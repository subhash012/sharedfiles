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728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Recreated as editable PowerPoint objects. Individual icons are separate selectable image objects; all boxes, text, boundaries, and connectors are editable PowerPoint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73152"/>
            <a:ext cx="49377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1">
                <a:solidFill>
                  <a:srgbClr val="0E3060"/>
                </a:solidFill>
                <a:latin typeface="Segoe UI"/>
              </a:rPr>
              <a:t>SOC-Triage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" y="457200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4B5A6E"/>
                </a:solidFill>
                <a:latin typeface="Segoe UI"/>
              </a:rPr>
              <a:t>Secure · Scalable · AI-Powered Triage with Claude Agents</a:t>
            </a:r>
          </a:p>
        </p:txBody>
      </p:sp>
      <p:pic>
        <p:nvPicPr>
          <p:cNvPr id="4" name="Picture 3" descr="az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73152"/>
            <a:ext cx="1554480" cy="38404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1168" y="1627632"/>
            <a:ext cx="1097280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673352"/>
            <a:ext cx="914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User /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947672"/>
            <a:ext cx="914400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0">
                <a:solidFill>
                  <a:srgbClr val="141414"/>
                </a:solidFill>
                <a:latin typeface="Segoe UI"/>
              </a:rPr>
              <a:t>SOC Analyst
(Web Browser)</a:t>
            </a:r>
          </a:p>
        </p:txBody>
      </p:sp>
      <p:pic>
        <p:nvPicPr>
          <p:cNvPr id="8" name="Picture 7" descr="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920240"/>
            <a:ext cx="411480" cy="4114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17320" y="1627632"/>
            <a:ext cx="1261872" cy="1097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673352"/>
            <a:ext cx="10789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Azure Front Door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47672"/>
            <a:ext cx="1078992" cy="731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00" b="0">
                <a:solidFill>
                  <a:srgbClr val="141414"/>
                </a:solidFill>
                <a:latin typeface="Segoe UI"/>
              </a:rPr>
              <a:t>Global Secure Entry
WAF + DDoS Protection</a:t>
            </a:r>
          </a:p>
        </p:txBody>
      </p:sp>
      <p:pic>
        <p:nvPicPr>
          <p:cNvPr id="12" name="Picture 11" descr="frontdo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504" y="1883664"/>
            <a:ext cx="594360" cy="43891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01168" y="3273552"/>
            <a:ext cx="123444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" y="331927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46464"/>
                </a:solidFill>
                <a:latin typeface="Segoe UI"/>
              </a:rPr>
              <a:t>Exabeam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593592"/>
            <a:ext cx="105156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>
                <a:solidFill>
                  <a:srgbClr val="141414"/>
                </a:solidFill>
                <a:latin typeface="Segoe UI"/>
              </a:rPr>
              <a:t>(External Service)
SIEM / Security Events</a:t>
            </a:r>
          </a:p>
        </p:txBody>
      </p:sp>
      <p:pic>
        <p:nvPicPr>
          <p:cNvPr id="16" name="Picture 15" descr="exab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456432"/>
            <a:ext cx="320040" cy="32004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01168" y="4553712"/>
            <a:ext cx="123444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4599432"/>
            <a:ext cx="1051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646464"/>
                </a:solidFill>
                <a:latin typeface="Segoe UI"/>
              </a:rPr>
              <a:t>VirusTotal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873752"/>
            <a:ext cx="1051560" cy="7132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141414"/>
                </a:solidFill>
                <a:latin typeface="Segoe UI"/>
              </a:rPr>
              <a:t>(External Service)
Threat Intelligence
File/URL Analysis</a:t>
            </a:r>
          </a:p>
        </p:txBody>
      </p:sp>
      <p:pic>
        <p:nvPicPr>
          <p:cNvPr id="20" name="Picture 19" descr="v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727448"/>
            <a:ext cx="320040" cy="32004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2971800" y="621792"/>
            <a:ext cx="2423160" cy="987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667512"/>
            <a:ext cx="22402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0078D4"/>
                </a:solidFill>
                <a:latin typeface="Segoe UI"/>
              </a:rPr>
              <a:t>Azure Container Registry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941832"/>
            <a:ext cx="224027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>
                <a:solidFill>
                  <a:srgbClr val="141414"/>
                </a:solidFill>
                <a:latin typeface="Segoe UI"/>
              </a:rPr>
              <a:t>Stores soc-triage:v3
Docker image</a:t>
            </a:r>
          </a:p>
        </p:txBody>
      </p:sp>
      <p:pic>
        <p:nvPicPr>
          <p:cNvPr id="24" name="Picture 23" descr="ac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39" y="896112"/>
            <a:ext cx="658368" cy="34747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062472" y="621792"/>
            <a:ext cx="2331720" cy="9875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667512"/>
            <a:ext cx="21488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1">
                <a:solidFill>
                  <a:srgbClr val="F25022"/>
                </a:solidFill>
                <a:latin typeface="Segoe UI"/>
              </a:rPr>
              <a:t>Microsoft Entra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941832"/>
            <a:ext cx="2148839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30" b="0">
                <a:solidFill>
                  <a:srgbClr val="141414"/>
                </a:solidFill>
                <a:latin typeface="Segoe UI"/>
              </a:rPr>
              <a:t>SSO + RBAC group claims</a:t>
            </a:r>
          </a:p>
        </p:txBody>
      </p:sp>
      <p:pic>
        <p:nvPicPr>
          <p:cNvPr id="28" name="Picture 27" descr="ent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896112"/>
            <a:ext cx="457200" cy="36576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788920" y="1645920"/>
            <a:ext cx="5943600" cy="4718304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1673352"/>
            <a:ext cx="57607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Azure Virtual Network (VNet)   10.0.0.0/16</a:t>
            </a:r>
          </a:p>
        </p:txBody>
      </p:sp>
      <p:pic>
        <p:nvPicPr>
          <p:cNvPr id="31" name="Picture 30" descr="vn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7792" y="1847088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46120" y="1874519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0078D4"/>
                </a:solidFill>
                <a:latin typeface="Segoe UI"/>
              </a:rPr>
              <a:t>10.0.0.0/16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2112" y="1993392"/>
            <a:ext cx="42976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73552" y="2020824"/>
            <a:ext cx="41148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Subnet: App Service (10.0.1.0/24)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10128" y="2212848"/>
            <a:ext cx="4069080" cy="3063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2258568"/>
            <a:ext cx="3886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078D4"/>
                </a:solidFill>
                <a:latin typeface="Segoe UI"/>
              </a:rPr>
              <a:t>Azure App Service (Linux)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2532888"/>
            <a:ext cx="3886200" cy="2697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40" b="0">
                <a:solidFill>
                  <a:srgbClr val="141414"/>
                </a:solidFill>
                <a:latin typeface="Segoe UI"/>
              </a:rPr>
              <a:t>Runs containerized SOC-Triage application
(Port 8787)</a:t>
            </a:r>
          </a:p>
        </p:txBody>
      </p:sp>
      <p:pic>
        <p:nvPicPr>
          <p:cNvPr id="38" name="Picture 37" descr="ap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6432" y="2468880"/>
            <a:ext cx="457200" cy="45720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493008" y="2697480"/>
            <a:ext cx="3694176" cy="23317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84448" y="2724912"/>
            <a:ext cx="3511296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Segoe UI"/>
              </a:rPr>
              <a:t>Docker Container (soc-triage:v3)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75887" y="2944368"/>
            <a:ext cx="1627632" cy="71323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67327" y="2990088"/>
            <a:ext cx="14447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16A34A"/>
                </a:solidFill>
                <a:latin typeface="Segoe UI"/>
              </a:rP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7327" y="3264408"/>
            <a:ext cx="14447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141414"/>
                </a:solidFill>
                <a:latin typeface="Segoe UI"/>
              </a:rPr>
              <a:t>Nginx / HTML/JS + MSAL
(Port 8787)</a:t>
            </a:r>
          </a:p>
        </p:txBody>
      </p:sp>
      <p:pic>
        <p:nvPicPr>
          <p:cNvPr id="44" name="Picture 43" descr="fronten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94760" y="3127248"/>
            <a:ext cx="347472" cy="347472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5376672" y="2944368"/>
            <a:ext cx="1627632" cy="713232"/>
          </a:xfrm>
          <a:prstGeom prst="roundRect">
            <a:avLst/>
          </a:prstGeom>
          <a:solidFill>
            <a:srgbClr val="F9F5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68112" y="2990088"/>
            <a:ext cx="14447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Segoe UI"/>
              </a:rPr>
              <a:t>FastAPI 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8112" y="3264408"/>
            <a:ext cx="14447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50" b="0">
                <a:solidFill>
                  <a:srgbClr val="141414"/>
                </a:solidFill>
                <a:latin typeface="Segoe UI"/>
              </a:rPr>
              <a:t>uvicorn :8787
Python FastAPI
API + Business Logic</a:t>
            </a:r>
          </a:p>
        </p:txBody>
      </p:sp>
      <p:pic>
        <p:nvPicPr>
          <p:cNvPr id="48" name="Picture 47" descr="fastap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04688" y="3127248"/>
            <a:ext cx="347472" cy="347472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3675887" y="3730752"/>
            <a:ext cx="1627632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67327" y="3776472"/>
            <a:ext cx="14447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F25022"/>
                </a:solidFill>
                <a:latin typeface="Segoe UI"/>
              </a:rPr>
              <a:t>Exabeam Poller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67327" y="4050791"/>
            <a:ext cx="1444752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40" b="0">
                <a:solidFill>
                  <a:srgbClr val="141414"/>
                </a:solidFill>
                <a:latin typeface="Segoe UI"/>
              </a:rPr>
              <a:t>Background Process
Fetch &amp; Process Alerts
(Scheduled/Async)</a:t>
            </a:r>
          </a:p>
        </p:txBody>
      </p:sp>
      <p:pic>
        <p:nvPicPr>
          <p:cNvPr id="52" name="Picture 51" descr="poll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85615" y="3931920"/>
            <a:ext cx="347472" cy="34747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5376672" y="3730752"/>
            <a:ext cx="1627632" cy="749808"/>
          </a:xfrm>
          <a:prstGeom prst="roundRect">
            <a:avLst/>
          </a:prstGeom>
          <a:solidFill>
            <a:srgbClr val="F9F5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68112" y="3776472"/>
            <a:ext cx="144475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Segoe UI"/>
              </a:rPr>
              <a:t>Claude Code Agents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68112" y="4050791"/>
            <a:ext cx="1444752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30" b="0">
                <a:solidFill>
                  <a:srgbClr val="141414"/>
                </a:solidFill>
                <a:latin typeface="Segoe UI"/>
              </a:rPr>
              <a:t>6 AI Agents
Triage · Analyze · Enrich
Generate Recommendations</a:t>
            </a:r>
          </a:p>
        </p:txBody>
      </p:sp>
      <p:pic>
        <p:nvPicPr>
          <p:cNvPr id="56" name="Picture 55" descr="ag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04688" y="3922776"/>
            <a:ext cx="347472" cy="347472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3675887" y="4553712"/>
            <a:ext cx="3328416" cy="50292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67327" y="4599432"/>
            <a:ext cx="314553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0078D4"/>
                </a:solidFill>
                <a:latin typeface="Segoe UI"/>
              </a:rPr>
              <a:t>Persistent Storage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67327" y="4873752"/>
            <a:ext cx="3145536" cy="137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90" b="0">
                <a:solidFill>
                  <a:srgbClr val="141414"/>
                </a:solidFill>
                <a:latin typeface="Segoe UI"/>
              </a:rPr>
              <a:t>/home/ · Reports · Inbox · Logs
(App Service Linux — only /home is persistent)</a:t>
            </a:r>
          </a:p>
        </p:txBody>
      </p:sp>
      <p:pic>
        <p:nvPicPr>
          <p:cNvPr id="60" name="Picture 59" descr="stor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85615" y="4636008"/>
            <a:ext cx="292608" cy="292608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3639312" y="5148072"/>
            <a:ext cx="3456432" cy="475488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30752" y="5193792"/>
            <a:ext cx="3273551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0078D4"/>
                </a:solidFill>
                <a:latin typeface="Segoe UI"/>
              </a:rPr>
              <a:t>App Service (Linux) Container Runtime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30752" y="5468112"/>
            <a:ext cx="3273551" cy="1097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80" b="0">
                <a:solidFill>
                  <a:srgbClr val="141414"/>
                </a:solidFill>
                <a:latin typeface="Segoe UI"/>
              </a:rPr>
              <a:t>Pulls image from ACR and runs container (soc-triage:v3)</a:t>
            </a:r>
          </a:p>
        </p:txBody>
      </p:sp>
      <p:pic>
        <p:nvPicPr>
          <p:cNvPr id="64" name="Picture 63" descr="runtim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0832" y="5212080"/>
            <a:ext cx="274320" cy="274320"/>
          </a:xfrm>
          <a:prstGeom prst="rect">
            <a:avLst/>
          </a:prstGeom>
        </p:spPr>
      </p:pic>
      <p:pic>
        <p:nvPicPr>
          <p:cNvPr id="65" name="Picture 64" descr="mi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97680" y="5650992"/>
            <a:ext cx="329184" cy="38404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4681728" y="5669280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1">
                <a:solidFill>
                  <a:srgbClr val="0078D4"/>
                </a:solidFill>
                <a:latin typeface="Segoe UI"/>
              </a:rPr>
              <a:t>Managed Identity
(system assigned)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17520" y="5870448"/>
            <a:ext cx="5257800" cy="502920"/>
          </a:xfrm>
          <a:prstGeom prst="rect">
            <a:avLst/>
          </a:prstGeom>
          <a:solidFill>
            <a:srgbClr val="EFF6FC"/>
          </a:solidFill>
          <a:ln w="12700">
            <a:solidFill>
              <a:srgbClr val="0078D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08960" y="5897880"/>
            <a:ext cx="5074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Subnet: Private Endpoints (10.0.2.0/24)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182112" y="6016752"/>
            <a:ext cx="20574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73552" y="6062472"/>
            <a:ext cx="18745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0078D4"/>
                </a:solidFill>
                <a:latin typeface="Segoe UI"/>
              </a:rPr>
              <a:t>Private Endpoint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73552" y="6336792"/>
            <a:ext cx="1874519" cy="-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0">
                <a:solidFill>
                  <a:srgbClr val="141414"/>
                </a:solidFill>
                <a:latin typeface="Segoe UI"/>
              </a:rPr>
              <a:t>10.0.2.4</a:t>
            </a:r>
          </a:p>
        </p:txBody>
      </p:sp>
      <p:pic>
        <p:nvPicPr>
          <p:cNvPr id="72" name="Picture 71" descr="p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7639" y="6035040"/>
            <a:ext cx="274320" cy="182880"/>
          </a:xfrm>
          <a:prstGeom prst="rect">
            <a:avLst/>
          </a:prstGeom>
        </p:spPr>
      </p:pic>
      <p:sp>
        <p:nvSpPr>
          <p:cNvPr id="73" name="Rounded Rectangle 72"/>
          <p:cNvSpPr/>
          <p:nvPr/>
        </p:nvSpPr>
        <p:spPr>
          <a:xfrm>
            <a:off x="5394960" y="6016752"/>
            <a:ext cx="2057400" cy="274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0" y="6062472"/>
            <a:ext cx="187451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1">
                <a:solidFill>
                  <a:srgbClr val="0078D4"/>
                </a:solidFill>
                <a:latin typeface="Segoe UI"/>
              </a:rPr>
              <a:t>Azure Key Vault (Private)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0" y="6336792"/>
            <a:ext cx="1874519" cy="-91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50" b="0">
                <a:solidFill>
                  <a:srgbClr val="141414"/>
                </a:solidFill>
                <a:latin typeface="Segoe UI"/>
              </a:rPr>
              <a:t>Stores 5 secrets</a:t>
            </a:r>
          </a:p>
        </p:txBody>
      </p:sp>
      <p:pic>
        <p:nvPicPr>
          <p:cNvPr id="76" name="Picture 75" descr="kv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0760" y="6035040"/>
            <a:ext cx="256032" cy="2011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44368" y="6419088"/>
            <a:ext cx="4389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0078D4"/>
                </a:solidFill>
                <a:latin typeface="Segoe UI"/>
              </a:rPr>
              <a:t>VNet: 10.0.0.0/16    Subnets: App Service (10.0.1.0/24) | Private Endpoints (10.0.2.0/24)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452360" y="2606040"/>
            <a:ext cx="868680" cy="105156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43800" y="265176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0078D4"/>
                </a:solidFill>
                <a:latin typeface="Segoe UI"/>
              </a:rPr>
              <a:t>VNet Integration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43800" y="2926080"/>
            <a:ext cx="685800" cy="6857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" b="0">
                <a:solidFill>
                  <a:srgbClr val="141414"/>
                </a:solidFill>
                <a:latin typeface="Segoe UI"/>
              </a:rPr>
              <a:t>Outbound traffic routing
to external services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43800" y="2788920"/>
            <a:ext cx="685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078D4"/>
                </a:solidFill>
                <a:latin typeface="Segoe UI"/>
              </a:rPr>
              <a:t>⇄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9680" y="1143000"/>
            <a:ext cx="2697480" cy="5212080"/>
          </a:xfrm>
          <a:prstGeom prst="rect">
            <a:avLst/>
          </a:prstGeom>
          <a:solidFill>
            <a:srgbClr val="F9F5FF"/>
          </a:solidFill>
          <a:ln w="12700">
            <a:solidFill>
              <a:srgbClr val="7C3AE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61119" y="1170432"/>
            <a:ext cx="2514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Segoe UI"/>
              </a:rPr>
              <a:t>Anthropic Claude Platform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79992" y="1399032"/>
            <a:ext cx="2240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19" b="1">
                <a:solidFill>
                  <a:srgbClr val="7C3AED"/>
                </a:solidFill>
                <a:latin typeface="Segoe UI"/>
              </a:rPr>
              <a:t>claude-sonnet-4-6 / claude-opus-4</a:t>
            </a:r>
          </a:p>
        </p:txBody>
      </p:sp>
      <p:pic>
        <p:nvPicPr>
          <p:cNvPr id="85" name="Picture 84" descr="anthropi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25712" y="1389888"/>
            <a:ext cx="2148840" cy="347472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9015984" y="1847088"/>
            <a:ext cx="2395728" cy="3611880"/>
          </a:xfrm>
          <a:prstGeom prst="rect">
            <a:avLst/>
          </a:prstGeom>
          <a:solidFill>
            <a:srgbClr val="F9F5FF"/>
          </a:solidFill>
          <a:ln w="12700">
            <a:solidFill>
              <a:srgbClr val="7C3AE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07424" y="1874519"/>
            <a:ext cx="22128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7C3AED"/>
                </a:solidFill>
                <a:latin typeface="Segoe UI"/>
              </a:rPr>
              <a:t>Claude Models (via API)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162288" y="2075688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53728" y="2121408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soc-team-lead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253728" y="2395728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Orchestrator · Delegates to specialists</a:t>
            </a:r>
          </a:p>
        </p:txBody>
      </p:sp>
      <p:pic>
        <p:nvPicPr>
          <p:cNvPr id="91" name="Picture 90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2148840"/>
            <a:ext cx="256032" cy="256032"/>
          </a:xfrm>
          <a:prstGeom prst="rect">
            <a:avLst/>
          </a:prstGeom>
        </p:spPr>
      </p:pic>
      <p:sp>
        <p:nvSpPr>
          <p:cNvPr id="92" name="Rounded Rectangle 91"/>
          <p:cNvSpPr/>
          <p:nvPr/>
        </p:nvSpPr>
        <p:spPr>
          <a:xfrm>
            <a:off x="9162288" y="2606040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253728" y="2651760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soc-siem-analyst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253728" y="2926080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Exabeam UEBA · Risk scores · Event correlation</a:t>
            </a:r>
          </a:p>
        </p:txBody>
      </p:sp>
      <p:pic>
        <p:nvPicPr>
          <p:cNvPr id="95" name="Picture 94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2679192"/>
            <a:ext cx="256032" cy="256032"/>
          </a:xfrm>
          <a:prstGeom prst="rect">
            <a:avLst/>
          </a:prstGeom>
        </p:spPr>
      </p:pic>
      <p:sp>
        <p:nvSpPr>
          <p:cNvPr id="96" name="Rounded Rectangle 95"/>
          <p:cNvSpPr/>
          <p:nvPr/>
        </p:nvSpPr>
        <p:spPr>
          <a:xfrm>
            <a:off x="9162288" y="3136392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53728" y="3182112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soc-network-analyst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53728" y="3456432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Darktrace · XDR · Network breach analysis</a:t>
            </a:r>
          </a:p>
        </p:txBody>
      </p:sp>
      <p:pic>
        <p:nvPicPr>
          <p:cNvPr id="99" name="Picture 98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3209544"/>
            <a:ext cx="256032" cy="256032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9162288" y="3666744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253728" y="3712463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soc-threat-intel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253728" y="3986783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VirusTotal · Recorded Future · IOC enrichment</a:t>
            </a:r>
          </a:p>
        </p:txBody>
      </p:sp>
      <p:pic>
        <p:nvPicPr>
          <p:cNvPr id="103" name="Picture 102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3739896"/>
            <a:ext cx="256032" cy="256032"/>
          </a:xfrm>
          <a:prstGeom prst="rect">
            <a:avLst/>
          </a:prstGeom>
        </p:spPr>
      </p:pic>
      <p:sp>
        <p:nvSpPr>
          <p:cNvPr id="104" name="Rounded Rectangle 103"/>
          <p:cNvSpPr/>
          <p:nvPr/>
        </p:nvSpPr>
        <p:spPr>
          <a:xfrm>
            <a:off x="9162288" y="4197096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253728" y="4242816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soc-mabel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253728" y="4517136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Institutional memory · Knowledge base · Playbooks</a:t>
            </a:r>
          </a:p>
        </p:txBody>
      </p:sp>
      <p:pic>
        <p:nvPicPr>
          <p:cNvPr id="107" name="Picture 106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4270248"/>
            <a:ext cx="256032" cy="256032"/>
          </a:xfrm>
          <a:prstGeom prst="rect">
            <a:avLst/>
          </a:prstGeom>
        </p:spPr>
      </p:pic>
      <p:sp>
        <p:nvSpPr>
          <p:cNvPr id="108" name="Rounded Rectangle 107"/>
          <p:cNvSpPr/>
          <p:nvPr/>
        </p:nvSpPr>
        <p:spPr>
          <a:xfrm>
            <a:off x="9162288" y="4727448"/>
            <a:ext cx="2103120" cy="4389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53728" y="4773168"/>
            <a:ext cx="192023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Segoe UI"/>
              </a:rPr>
              <a:t>soc-verdict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253728" y="5047488"/>
            <a:ext cx="1920239" cy="7315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60" b="0">
                <a:solidFill>
                  <a:srgbClr val="141414"/>
                </a:solidFill>
                <a:latin typeface="Segoe UI"/>
              </a:rPr>
              <a:t>Decision matrix · Classification · Severity · Action</a:t>
            </a:r>
          </a:p>
        </p:txBody>
      </p:sp>
      <p:pic>
        <p:nvPicPr>
          <p:cNvPr id="111" name="Picture 110" descr="agent_small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35440" y="4800600"/>
            <a:ext cx="256032" cy="256032"/>
          </a:xfrm>
          <a:prstGeom prst="rect">
            <a:avLst/>
          </a:prstGeom>
        </p:spPr>
      </p:pic>
      <p:pic>
        <p:nvPicPr>
          <p:cNvPr id="112" name="Picture 111" descr="claud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44000" y="5596128"/>
            <a:ext cx="2057400" cy="502920"/>
          </a:xfrm>
          <a:prstGeom prst="rect">
            <a:avLst/>
          </a:prstGeom>
        </p:spPr>
      </p:pic>
      <p:cxnSp>
        <p:nvCxnSpPr>
          <p:cNvPr id="113" name="Connector 112"/>
          <p:cNvCxnSpPr/>
          <p:nvPr/>
        </p:nvCxnSpPr>
        <p:spPr>
          <a:xfrm>
            <a:off x="1298448" y="2176272"/>
            <a:ext cx="118872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316736" y="1993392"/>
            <a:ext cx="50292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00" b="0">
                <a:solidFill>
                  <a:srgbClr val="646464"/>
                </a:solidFill>
                <a:latin typeface="Segoe UI"/>
              </a:rPr>
              <a:t>HTTPS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2679192" y="2176272"/>
            <a:ext cx="50292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2743200" y="199339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0">
                <a:solidFill>
                  <a:srgbClr val="646464"/>
                </a:solidFill>
                <a:latin typeface="Segoe UI"/>
              </a:rPr>
              <a:t>HTTPS
(443)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5394960" y="1115568"/>
            <a:ext cx="0" cy="109728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486400" y="1463040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50" b="0">
                <a:solidFill>
                  <a:srgbClr val="646464"/>
                </a:solidFill>
                <a:latin typeface="Segoe UI"/>
              </a:rPr>
              <a:t>Image pull
(on deploy)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223760" y="1115568"/>
            <a:ext cx="0" cy="109728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7296912" y="1508760"/>
            <a:ext cx="640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646464"/>
                </a:solidFill>
                <a:latin typeface="Segoe UI"/>
              </a:rPr>
              <a:t>ID token (OIDC)
via MSAL</a:t>
            </a:r>
          </a:p>
        </p:txBody>
      </p:sp>
      <p:cxnSp>
        <p:nvCxnSpPr>
          <p:cNvPr id="121" name="Connector 120"/>
          <p:cNvCxnSpPr/>
          <p:nvPr/>
        </p:nvCxnSpPr>
        <p:spPr>
          <a:xfrm flipH="1" flipV="1">
            <a:off x="1435608" y="3822191"/>
            <a:ext cx="2240279" cy="246889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828800" y="3456432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0">
                <a:solidFill>
                  <a:srgbClr val="646464"/>
                </a:solidFill>
                <a:latin typeface="Segoe UI"/>
              </a:rPr>
              <a:t>OAuth2 + REST
(HTTPS)
Request / Response</a:t>
            </a:r>
          </a:p>
        </p:txBody>
      </p:sp>
      <p:cxnSp>
        <p:nvCxnSpPr>
          <p:cNvPr id="123" name="Connector 122"/>
          <p:cNvCxnSpPr/>
          <p:nvPr/>
        </p:nvCxnSpPr>
        <p:spPr>
          <a:xfrm flipH="1">
            <a:off x="1435608" y="4133087"/>
            <a:ext cx="2240279" cy="941833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1920240" y="4590288"/>
            <a:ext cx="8229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20" b="0">
                <a:solidFill>
                  <a:srgbClr val="646464"/>
                </a:solidFill>
                <a:latin typeface="Segoe UI"/>
              </a:rPr>
              <a:t>HTTPS
Request / Response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7004304" y="4069080"/>
            <a:ext cx="1865376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296912" y="373075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" b="1">
                <a:solidFill>
                  <a:srgbClr val="7C3AED"/>
                </a:solidFill>
                <a:latin typeface="Segoe UI"/>
              </a:rPr>
              <a:t>API calls · HTTPS
Messages API</a:t>
            </a:r>
          </a:p>
        </p:txBody>
      </p:sp>
      <p:cxnSp>
        <p:nvCxnSpPr>
          <p:cNvPr id="127" name="Connector 126"/>
          <p:cNvCxnSpPr/>
          <p:nvPr/>
        </p:nvCxnSpPr>
        <p:spPr>
          <a:xfrm flipV="1">
            <a:off x="4617720" y="5257800"/>
            <a:ext cx="0" cy="393192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4709160" y="5413248"/>
            <a:ext cx="640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20" b="0">
                <a:solidFill>
                  <a:srgbClr val="646464"/>
                </a:solidFill>
                <a:latin typeface="Segoe UI"/>
              </a:rPr>
              <a:t>Managed
Identity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010912" y="5925312"/>
            <a:ext cx="384048" cy="219456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5074920" y="5760720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00" b="0">
                <a:solidFill>
                  <a:srgbClr val="646464"/>
                </a:solidFill>
                <a:latin typeface="Segoe UI"/>
              </a:rPr>
              <a:t>secrets via
Private Endpoint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5239512" y="6144768"/>
            <a:ext cx="155448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5577840" y="6144768"/>
            <a:ext cx="457200" cy="0"/>
          </a:xfrm>
          <a:prstGeom prst="line">
            <a:avLst/>
          </a:prstGeom>
          <a:ln w="1270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5559552" y="5897880"/>
            <a:ext cx="7315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0">
                <a:solidFill>
                  <a:srgbClr val="646464"/>
                </a:solidFill>
                <a:latin typeface="Segoe UI"/>
              </a:rPr>
              <a:t>Private connection
(HTTPS)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303520" y="3300984"/>
            <a:ext cx="73152" cy="0"/>
          </a:xfrm>
          <a:prstGeom prst="line">
            <a:avLst/>
          </a:prstGeom>
          <a:ln w="11430">
            <a:solidFill>
              <a:srgbClr val="6464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5230368" y="3099816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646464"/>
                </a:solidFill>
                <a:latin typeface="Segoe UI"/>
              </a:rPr>
              <a:t>REST API
(localhost)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64592" y="6601968"/>
            <a:ext cx="7360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56032" y="6629400"/>
            <a:ext cx="71780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Key Benefits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84048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Secure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84048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Azure Front Door +
Private Endpoints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545336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Scalable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545336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Containerized on
Azure App Service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706624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Integrated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06624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Exabeam, VirusTotal,
Claude via APIs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867912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AI-Powered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867912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6 Specialized Agents
for SOC Triage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029200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Persistent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29200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/home for logs, reports
and knowledge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190488" y="6830568"/>
            <a:ext cx="749808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50" b="1">
                <a:solidFill>
                  <a:srgbClr val="0078D4"/>
                </a:solidFill>
                <a:latin typeface="Segoe UI"/>
              </a:rPr>
              <a:t>Enterprise Ready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190488" y="6986016"/>
            <a:ext cx="7498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20" b="0">
                <a:solidFill>
                  <a:srgbClr val="141414"/>
                </a:solidFill>
                <a:latin typeface="Segoe UI"/>
              </a:rPr>
              <a:t>SSO, RBAC, Monitoring
and Secure by Design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680960" y="660196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772400" y="662940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1">
                <a:solidFill>
                  <a:srgbClr val="0078D4"/>
                </a:solidFill>
                <a:latin typeface="Segoe UI"/>
              </a:rPr>
              <a:t>Legend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818120" y="6812280"/>
            <a:ext cx="146304" cy="91440"/>
          </a:xfrm>
          <a:prstGeom prst="rect">
            <a:avLst/>
          </a:prstGeom>
          <a:solidFill>
            <a:srgbClr val="FFFFFF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001000" y="6793992"/>
            <a:ext cx="11430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" b="0">
                <a:solidFill>
                  <a:srgbClr val="141414"/>
                </a:solidFill>
                <a:latin typeface="Segoe UI"/>
              </a:rPr>
              <a:t>Azure service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189720" y="6812280"/>
            <a:ext cx="146304" cy="91440"/>
          </a:xfrm>
          <a:prstGeom prst="rect">
            <a:avLst/>
          </a:prstGeom>
          <a:solidFill>
            <a:srgbClr val="FFFFFF"/>
          </a:solidFill>
          <a:ln>
            <a:solidFill>
              <a:srgbClr val="F25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372600" y="6793992"/>
            <a:ext cx="11430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" b="0">
                <a:solidFill>
                  <a:srgbClr val="141414"/>
                </a:solidFill>
                <a:latin typeface="Segoe UI"/>
              </a:rPr>
              <a:t>Identity / Security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818120" y="7013448"/>
            <a:ext cx="146304" cy="9144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001000" y="6995160"/>
            <a:ext cx="11430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" b="0">
                <a:solidFill>
                  <a:srgbClr val="141414"/>
                </a:solidFill>
                <a:latin typeface="Segoe UI"/>
              </a:rPr>
              <a:t>Anthropic / Claude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7013448"/>
            <a:ext cx="146304" cy="91440"/>
          </a:xfrm>
          <a:prstGeom prst="rect">
            <a:avLst/>
          </a:prstGeom>
          <a:solidFill>
            <a:srgbClr val="FFFFFF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372600" y="6995160"/>
            <a:ext cx="1143000" cy="128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" b="0">
                <a:solidFill>
                  <a:srgbClr val="141414"/>
                </a:solidFill>
                <a:latin typeface="Segoe UI"/>
              </a:rPr>
              <a:t>External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