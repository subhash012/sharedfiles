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371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04AC98-77E7-493F-88C8-06A4E816E2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344564-07EF-4A08-A65F-A2F08D2C9B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01ACDD-8665-4EA3-97CC-77FC08B3C3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B90142-FC34-403E-8FC7-84D8C90A9B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371C82-E958-4990-BAA0-69E20CE139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FE88A5-754B-49C9-9D61-20942A6C01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12096B-D85D-4193-B76C-29E13EAB02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886409-5533-4CDD-B980-C0217483C81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CB6D71-F7B5-4E53-AB68-0502006AE3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FE44F4-37F9-4ADE-96F0-2066655CEF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6AEA27-71ED-4D7D-B1D5-DFD25403DE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2.png"/><Relationship Id="rId21" Type="http://schemas.openxmlformats.org/officeDocument/2006/relationships/image" Target="../media/image12.png"/><Relationship Id="rId22" Type="http://schemas.openxmlformats.org/officeDocument/2006/relationships/image" Target="../media/image12.png"/><Relationship Id="rId23" Type="http://schemas.openxmlformats.org/officeDocument/2006/relationships/image" Target="../media/image12.png"/><Relationship Id="rId24" Type="http://schemas.openxmlformats.org/officeDocument/2006/relationships/image" Target="../media/image12.png"/><Relationship Id="rId25" Type="http://schemas.openxmlformats.org/officeDocument/2006/relationships/image" Target="../media/image12.png"/><Relationship Id="rId26" Type="http://schemas.openxmlformats.org/officeDocument/2006/relationships/image" Target="../media/image19.png"/><Relationship Id="rId2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292680" y="7308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SOC-Triage — System Architecture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320040" y="51192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4e6078"/>
                </a:solidFill>
                <a:effectLst/>
                <a:uFillTx/>
                <a:latin typeface="Segoe UI"/>
              </a:rPr>
              <a:t>Secure · Scalable · AI-Powered Triage with Claude Agents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3" descr="azure_logo.png"/>
          <p:cNvPicPr/>
          <p:nvPr/>
        </p:nvPicPr>
        <p:blipFill>
          <a:blip r:embed="rId1"/>
          <a:stretch/>
        </p:blipFill>
        <p:spPr>
          <a:xfrm>
            <a:off x="11411640" y="91440"/>
            <a:ext cx="20570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ounded Rectangle 4"/>
          <p:cNvSpPr/>
          <p:nvPr/>
        </p:nvSpPr>
        <p:spPr>
          <a:xfrm>
            <a:off x="228600" y="2331720"/>
            <a:ext cx="1416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" name="Picture 5" descr="user.png"/>
          <p:cNvPicPr/>
          <p:nvPr/>
        </p:nvPicPr>
        <p:blipFill>
          <a:blip r:embed="rId2"/>
          <a:stretch/>
        </p:blipFill>
        <p:spPr>
          <a:xfrm>
            <a:off x="393120" y="2606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6"/>
          <p:cNvSpPr/>
          <p:nvPr/>
        </p:nvSpPr>
        <p:spPr>
          <a:xfrm>
            <a:off x="941760" y="2423160"/>
            <a:ext cx="594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User / Browser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941760" y="2688480"/>
            <a:ext cx="59400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8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SOC Analyst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(Web Browser)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8"/>
          <p:cNvSpPr/>
          <p:nvPr/>
        </p:nvSpPr>
        <p:spPr>
          <a:xfrm>
            <a:off x="1783080" y="2331720"/>
            <a:ext cx="15998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Picture 9" descr="frontdoor.png"/>
          <p:cNvPicPr/>
          <p:nvPr/>
        </p:nvPicPr>
        <p:blipFill>
          <a:blip r:embed="rId3"/>
          <a:stretch/>
        </p:blipFill>
        <p:spPr>
          <a:xfrm>
            <a:off x="1947600" y="2606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10"/>
          <p:cNvSpPr/>
          <p:nvPr/>
        </p:nvSpPr>
        <p:spPr>
          <a:xfrm>
            <a:off x="2496240" y="2423160"/>
            <a:ext cx="77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Azure Front Door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2496240" y="2688480"/>
            <a:ext cx="77688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Global Secure Entry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WAF + DDoS Protection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12"/>
          <p:cNvSpPr/>
          <p:nvPr/>
        </p:nvSpPr>
        <p:spPr>
          <a:xfrm>
            <a:off x="228600" y="4160520"/>
            <a:ext cx="159984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37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13" descr="exabeam.png"/>
          <p:cNvPicPr/>
          <p:nvPr/>
        </p:nvPicPr>
        <p:blipFill>
          <a:blip r:embed="rId4"/>
          <a:stretch/>
        </p:blipFill>
        <p:spPr>
          <a:xfrm>
            <a:off x="393120" y="44348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14"/>
          <p:cNvSpPr/>
          <p:nvPr/>
        </p:nvSpPr>
        <p:spPr>
          <a:xfrm>
            <a:off x="941760" y="4251960"/>
            <a:ext cx="77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Exabeam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941760" y="4517280"/>
            <a:ext cx="776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(External Service)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7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SIEM / Security Events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16"/>
          <p:cNvSpPr/>
          <p:nvPr/>
        </p:nvSpPr>
        <p:spPr>
          <a:xfrm>
            <a:off x="228600" y="5897880"/>
            <a:ext cx="159984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37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7" descr="virustotal.png"/>
          <p:cNvPicPr/>
          <p:nvPr/>
        </p:nvPicPr>
        <p:blipFill>
          <a:blip r:embed="rId5"/>
          <a:stretch/>
        </p:blipFill>
        <p:spPr>
          <a:xfrm>
            <a:off x="393120" y="61722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18"/>
          <p:cNvSpPr/>
          <p:nvPr/>
        </p:nvSpPr>
        <p:spPr>
          <a:xfrm>
            <a:off x="941760" y="5989320"/>
            <a:ext cx="77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VirusTotal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941760" y="6254640"/>
            <a:ext cx="776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(External Service)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7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Threat Intelligence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7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File/URL Analysis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20"/>
          <p:cNvSpPr/>
          <p:nvPr/>
        </p:nvSpPr>
        <p:spPr>
          <a:xfrm>
            <a:off x="3703320" y="749880"/>
            <a:ext cx="278856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21" descr="acr.png"/>
          <p:cNvPicPr/>
          <p:nvPr/>
        </p:nvPicPr>
        <p:blipFill>
          <a:blip r:embed="rId6"/>
          <a:stretch/>
        </p:blipFill>
        <p:spPr>
          <a:xfrm>
            <a:off x="3867840" y="10242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22"/>
          <p:cNvSpPr/>
          <p:nvPr/>
        </p:nvSpPr>
        <p:spPr>
          <a:xfrm>
            <a:off x="4416480" y="841320"/>
            <a:ext cx="1965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Azure Container Registry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3"/>
          <p:cNvSpPr/>
          <p:nvPr/>
        </p:nvSpPr>
        <p:spPr>
          <a:xfrm>
            <a:off x="4416480" y="1106280"/>
            <a:ext cx="19656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8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Stores soc-triage:v3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Docker image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24"/>
          <p:cNvSpPr/>
          <p:nvPr/>
        </p:nvSpPr>
        <p:spPr>
          <a:xfrm>
            <a:off x="7406640" y="749880"/>
            <a:ext cx="25142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250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25" descr="entra.png"/>
          <p:cNvPicPr/>
          <p:nvPr/>
        </p:nvPicPr>
        <p:blipFill>
          <a:blip r:embed="rId7"/>
          <a:stretch/>
        </p:blipFill>
        <p:spPr>
          <a:xfrm>
            <a:off x="7571160" y="10242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26"/>
          <p:cNvSpPr/>
          <p:nvPr/>
        </p:nvSpPr>
        <p:spPr>
          <a:xfrm>
            <a:off x="8119800" y="84132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25022"/>
                </a:solidFill>
                <a:effectLst/>
                <a:uFillTx/>
                <a:latin typeface="Segoe UI"/>
              </a:rPr>
              <a:t>Microsoft Entra ID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7"/>
          <p:cNvSpPr/>
          <p:nvPr/>
        </p:nvSpPr>
        <p:spPr>
          <a:xfrm>
            <a:off x="8119800" y="1106280"/>
            <a:ext cx="16912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SSO + RBAC group claims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28"/>
          <p:cNvSpPr/>
          <p:nvPr/>
        </p:nvSpPr>
        <p:spPr>
          <a:xfrm>
            <a:off x="3520440" y="2057400"/>
            <a:ext cx="6903360" cy="566892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9"/>
          <p:cNvSpPr/>
          <p:nvPr/>
        </p:nvSpPr>
        <p:spPr>
          <a:xfrm>
            <a:off x="3639240" y="207576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Azure Virtual Network (VNet)  •  10.0.0.0/16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0"/>
          <p:cNvSpPr/>
          <p:nvPr/>
        </p:nvSpPr>
        <p:spPr>
          <a:xfrm>
            <a:off x="4251960" y="2450520"/>
            <a:ext cx="4845960" cy="416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31"/>
          <p:cNvSpPr/>
          <p:nvPr/>
        </p:nvSpPr>
        <p:spPr>
          <a:xfrm>
            <a:off x="4370760" y="2468880"/>
            <a:ext cx="4617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Subnet: App Service (10.0.1.0/24)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32"/>
          <p:cNvSpPr/>
          <p:nvPr/>
        </p:nvSpPr>
        <p:spPr>
          <a:xfrm>
            <a:off x="4370760" y="2724840"/>
            <a:ext cx="4571640" cy="3547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33" descr="app.png"/>
          <p:cNvPicPr/>
          <p:nvPr/>
        </p:nvPicPr>
        <p:blipFill>
          <a:blip r:embed="rId8"/>
          <a:stretch/>
        </p:blipFill>
        <p:spPr>
          <a:xfrm>
            <a:off x="4517280" y="28620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34"/>
          <p:cNvSpPr/>
          <p:nvPr/>
        </p:nvSpPr>
        <p:spPr>
          <a:xfrm>
            <a:off x="5010840" y="28162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Azure App Service (Linux)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5"/>
          <p:cNvSpPr/>
          <p:nvPr/>
        </p:nvSpPr>
        <p:spPr>
          <a:xfrm>
            <a:off x="5010840" y="310896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Runs containerized SOC-Triage application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7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(Port 8787)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6"/>
          <p:cNvSpPr/>
          <p:nvPr/>
        </p:nvSpPr>
        <p:spPr>
          <a:xfrm>
            <a:off x="4553640" y="3310200"/>
            <a:ext cx="4205880" cy="226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7"/>
          <p:cNvSpPr/>
          <p:nvPr/>
        </p:nvSpPr>
        <p:spPr>
          <a:xfrm>
            <a:off x="4672440" y="33285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6a34a"/>
                </a:solidFill>
                <a:effectLst/>
                <a:uFillTx/>
                <a:latin typeface="Segoe UI"/>
              </a:rPr>
              <a:t>Docker Container (soc-triage:v3)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8"/>
          <p:cNvSpPr/>
          <p:nvPr/>
        </p:nvSpPr>
        <p:spPr>
          <a:xfrm>
            <a:off x="4663440" y="3611880"/>
            <a:ext cx="187416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39" descr="frontend.png"/>
          <p:cNvPicPr/>
          <p:nvPr/>
        </p:nvPicPr>
        <p:blipFill>
          <a:blip r:embed="rId9"/>
          <a:stretch/>
        </p:blipFill>
        <p:spPr>
          <a:xfrm>
            <a:off x="4773240" y="37764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40"/>
          <p:cNvSpPr/>
          <p:nvPr/>
        </p:nvSpPr>
        <p:spPr>
          <a:xfrm>
            <a:off x="5376600" y="3703320"/>
            <a:ext cx="1051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16a34a"/>
                </a:solidFill>
                <a:effectLst/>
                <a:uFillTx/>
                <a:latin typeface="Segoe UI"/>
              </a:rPr>
              <a:t>Frontend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1"/>
          <p:cNvSpPr/>
          <p:nvPr/>
        </p:nvSpPr>
        <p:spPr>
          <a:xfrm>
            <a:off x="5376600" y="396864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7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Nginx / HTML/JS + MSAL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67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(Port 8787)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42"/>
          <p:cNvSpPr/>
          <p:nvPr/>
        </p:nvSpPr>
        <p:spPr>
          <a:xfrm>
            <a:off x="6629400" y="3611880"/>
            <a:ext cx="1938240" cy="749520"/>
          </a:xfrm>
          <a:prstGeom prst="roundRect">
            <a:avLst>
              <a:gd name="adj" fmla="val 16667"/>
            </a:avLst>
          </a:prstGeom>
          <a:solidFill>
            <a:srgbClr val="f8f4ff"/>
          </a:solidFill>
          <a:ln w="127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43" descr="fastapi.png"/>
          <p:cNvPicPr/>
          <p:nvPr/>
        </p:nvPicPr>
        <p:blipFill>
          <a:blip r:embed="rId10"/>
          <a:stretch/>
        </p:blipFill>
        <p:spPr>
          <a:xfrm>
            <a:off x="6739200" y="37764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44"/>
          <p:cNvSpPr/>
          <p:nvPr/>
        </p:nvSpPr>
        <p:spPr>
          <a:xfrm>
            <a:off x="7342560" y="3703320"/>
            <a:ext cx="1115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FastAPI Backend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5"/>
          <p:cNvSpPr/>
          <p:nvPr/>
        </p:nvSpPr>
        <p:spPr>
          <a:xfrm>
            <a:off x="7342560" y="3968640"/>
            <a:ext cx="1115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6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uvicorn :8787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6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Python FastAPI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66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API + Business Logic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6"/>
          <p:cNvSpPr/>
          <p:nvPr/>
        </p:nvSpPr>
        <p:spPr>
          <a:xfrm>
            <a:off x="4663440" y="4462200"/>
            <a:ext cx="1874160" cy="80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250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47" descr="poller.png"/>
          <p:cNvPicPr/>
          <p:nvPr/>
        </p:nvPicPr>
        <p:blipFill>
          <a:blip r:embed="rId11"/>
          <a:stretch/>
        </p:blipFill>
        <p:spPr>
          <a:xfrm>
            <a:off x="4773240" y="46360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48"/>
          <p:cNvSpPr/>
          <p:nvPr/>
        </p:nvSpPr>
        <p:spPr>
          <a:xfrm>
            <a:off x="5376600" y="4553640"/>
            <a:ext cx="1051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f25022"/>
                </a:solidFill>
                <a:effectLst/>
                <a:uFillTx/>
                <a:latin typeface="Segoe UI"/>
              </a:rPr>
              <a:t>Exabeam Poller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9"/>
          <p:cNvSpPr/>
          <p:nvPr/>
        </p:nvSpPr>
        <p:spPr>
          <a:xfrm>
            <a:off x="5376600" y="4818960"/>
            <a:ext cx="105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Background Process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Fetch &amp; Process Alerts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(Scheduled/Async)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50"/>
          <p:cNvSpPr/>
          <p:nvPr/>
        </p:nvSpPr>
        <p:spPr>
          <a:xfrm>
            <a:off x="6629400" y="4462200"/>
            <a:ext cx="1938240" cy="804240"/>
          </a:xfrm>
          <a:prstGeom prst="roundRect">
            <a:avLst>
              <a:gd name="adj" fmla="val 16667"/>
            </a:avLst>
          </a:prstGeom>
          <a:solidFill>
            <a:srgbClr val="f8f4ff"/>
          </a:solidFill>
          <a:ln w="127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51" descr="agent.png"/>
          <p:cNvPicPr/>
          <p:nvPr/>
        </p:nvPicPr>
        <p:blipFill>
          <a:blip r:embed="rId12"/>
          <a:stretch/>
        </p:blipFill>
        <p:spPr>
          <a:xfrm>
            <a:off x="6739200" y="46360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52"/>
          <p:cNvSpPr/>
          <p:nvPr/>
        </p:nvSpPr>
        <p:spPr>
          <a:xfrm>
            <a:off x="7342560" y="4553640"/>
            <a:ext cx="1115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Claude Code Agents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53"/>
          <p:cNvSpPr/>
          <p:nvPr/>
        </p:nvSpPr>
        <p:spPr>
          <a:xfrm>
            <a:off x="7342560" y="4818960"/>
            <a:ext cx="1115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4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6 AI Agents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4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Triage · Analyze · Enrich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64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Generate Recommendations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54"/>
          <p:cNvSpPr/>
          <p:nvPr/>
        </p:nvSpPr>
        <p:spPr>
          <a:xfrm>
            <a:off x="4663440" y="5330880"/>
            <a:ext cx="3702960" cy="475200"/>
          </a:xfrm>
          <a:prstGeom prst="roundRect">
            <a:avLst>
              <a:gd name="adj" fmla="val 16667"/>
            </a:avLst>
          </a:prstGeom>
          <a:solidFill>
            <a:srgbClr val="eff6fc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" name="Picture 55" descr="runtime.png"/>
          <p:cNvPicPr/>
          <p:nvPr/>
        </p:nvPicPr>
        <p:blipFill>
          <a:blip r:embed="rId13"/>
          <a:stretch/>
        </p:blipFill>
        <p:spPr>
          <a:xfrm>
            <a:off x="4754880" y="5376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56"/>
          <p:cNvSpPr/>
          <p:nvPr/>
        </p:nvSpPr>
        <p:spPr>
          <a:xfrm>
            <a:off x="5193720" y="5340240"/>
            <a:ext cx="301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39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App Service (Linux) Container Runtime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7"/>
          <p:cNvSpPr/>
          <p:nvPr/>
        </p:nvSpPr>
        <p:spPr>
          <a:xfrm>
            <a:off x="5193720" y="5523120"/>
            <a:ext cx="301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3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Pulls image from ACR and runs container (soc-triage:v3)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58" descr="mi.png"/>
          <p:cNvPicPr/>
          <p:nvPr/>
        </p:nvPicPr>
        <p:blipFill>
          <a:blip r:embed="rId14"/>
          <a:stretch/>
        </p:blipFill>
        <p:spPr>
          <a:xfrm>
            <a:off x="5440680" y="601668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59"/>
          <p:cNvSpPr/>
          <p:nvPr/>
        </p:nvSpPr>
        <p:spPr>
          <a:xfrm>
            <a:off x="5870520" y="599832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39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Managed Identity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0"/>
          <p:cNvSpPr/>
          <p:nvPr/>
        </p:nvSpPr>
        <p:spPr>
          <a:xfrm>
            <a:off x="5870520" y="62089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7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(system assigned)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61"/>
          <p:cNvSpPr/>
          <p:nvPr/>
        </p:nvSpPr>
        <p:spPr>
          <a:xfrm>
            <a:off x="3749040" y="6565320"/>
            <a:ext cx="6537600" cy="7311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62"/>
          <p:cNvSpPr/>
          <p:nvPr/>
        </p:nvSpPr>
        <p:spPr>
          <a:xfrm>
            <a:off x="3867840" y="6583680"/>
            <a:ext cx="6309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Subnet: Private Endpoints (10.0.2.0/24)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63"/>
          <p:cNvSpPr/>
          <p:nvPr/>
        </p:nvSpPr>
        <p:spPr>
          <a:xfrm>
            <a:off x="3931920" y="6812280"/>
            <a:ext cx="2194200" cy="3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64" descr="pe.png"/>
          <p:cNvPicPr/>
          <p:nvPr/>
        </p:nvPicPr>
        <p:blipFill>
          <a:blip r:embed="rId15"/>
          <a:stretch/>
        </p:blipFill>
        <p:spPr>
          <a:xfrm>
            <a:off x="4407480" y="6849000"/>
            <a:ext cx="31068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65"/>
          <p:cNvSpPr/>
          <p:nvPr/>
        </p:nvSpPr>
        <p:spPr>
          <a:xfrm>
            <a:off x="4754880" y="6812280"/>
            <a:ext cx="11426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3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Private Endpoint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66"/>
          <p:cNvSpPr/>
          <p:nvPr/>
        </p:nvSpPr>
        <p:spPr>
          <a:xfrm>
            <a:off x="4754880" y="6967800"/>
            <a:ext cx="1142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61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10.0.2.4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67"/>
          <p:cNvSpPr/>
          <p:nvPr/>
        </p:nvSpPr>
        <p:spPr>
          <a:xfrm>
            <a:off x="6446520" y="6720840"/>
            <a:ext cx="260568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68" descr="kv.png"/>
          <p:cNvPicPr/>
          <p:nvPr/>
        </p:nvPicPr>
        <p:blipFill>
          <a:blip r:embed="rId16"/>
          <a:stretch/>
        </p:blipFill>
        <p:spPr>
          <a:xfrm>
            <a:off x="6629400" y="67575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69"/>
          <p:cNvSpPr/>
          <p:nvPr/>
        </p:nvSpPr>
        <p:spPr>
          <a:xfrm>
            <a:off x="7059240" y="672984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5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Azure Key Vault (Private)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70"/>
          <p:cNvSpPr/>
          <p:nvPr/>
        </p:nvSpPr>
        <p:spPr>
          <a:xfrm>
            <a:off x="7059240" y="690372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Stores 5 secrets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71" descr="vnet.png"/>
          <p:cNvPicPr/>
          <p:nvPr/>
        </p:nvPicPr>
        <p:blipFill>
          <a:blip r:embed="rId17"/>
          <a:stretch/>
        </p:blipFill>
        <p:spPr>
          <a:xfrm>
            <a:off x="3675960" y="7315200"/>
            <a:ext cx="31068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72"/>
          <p:cNvSpPr/>
          <p:nvPr/>
        </p:nvSpPr>
        <p:spPr>
          <a:xfrm>
            <a:off x="4041720" y="7296840"/>
            <a:ext cx="5943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VNet: 10.0.0.0/16   Subnets: App Service (10.0.1.0/24) | Private Endpoints (10.0.2.0/24)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73"/>
          <p:cNvSpPr/>
          <p:nvPr/>
        </p:nvSpPr>
        <p:spPr>
          <a:xfrm>
            <a:off x="9235440" y="2926080"/>
            <a:ext cx="1234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74" descr="vnet.png"/>
          <p:cNvPicPr/>
          <p:nvPr/>
        </p:nvPicPr>
        <p:blipFill>
          <a:blip r:embed="rId18"/>
          <a:stretch/>
        </p:blipFill>
        <p:spPr>
          <a:xfrm>
            <a:off x="9528120" y="3063240"/>
            <a:ext cx="50256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75"/>
          <p:cNvSpPr/>
          <p:nvPr/>
        </p:nvSpPr>
        <p:spPr>
          <a:xfrm>
            <a:off x="9308520" y="3447360"/>
            <a:ext cx="107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3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VNet Integration</a:t>
            </a:r>
            <a:endParaRPr b="0" lang="en-US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6"/>
          <p:cNvSpPr/>
          <p:nvPr/>
        </p:nvSpPr>
        <p:spPr>
          <a:xfrm>
            <a:off x="9308520" y="3712320"/>
            <a:ext cx="10785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Outbound traffic routing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to external services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5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(Exabeam, VirusTotal, etc.)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77"/>
          <p:cNvSpPr/>
          <p:nvPr/>
        </p:nvSpPr>
        <p:spPr>
          <a:xfrm>
            <a:off x="10652760" y="1353240"/>
            <a:ext cx="2834280" cy="6263280"/>
          </a:xfrm>
          <a:prstGeom prst="rect">
            <a:avLst/>
          </a:prstGeom>
          <a:solidFill>
            <a:srgbClr val="f8f4ff"/>
          </a:solidFill>
          <a:ln w="12700">
            <a:solidFill>
              <a:srgbClr val="7c3aed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78"/>
          <p:cNvSpPr/>
          <p:nvPr/>
        </p:nvSpPr>
        <p:spPr>
          <a:xfrm>
            <a:off x="10771560" y="13716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Anthropic Claude Platform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79" descr="anthropic.png"/>
          <p:cNvPicPr/>
          <p:nvPr/>
        </p:nvPicPr>
        <p:blipFill>
          <a:blip r:embed="rId19"/>
          <a:stretch/>
        </p:blipFill>
        <p:spPr>
          <a:xfrm>
            <a:off x="10899720" y="1517760"/>
            <a:ext cx="62136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80"/>
          <p:cNvSpPr/>
          <p:nvPr/>
        </p:nvSpPr>
        <p:spPr>
          <a:xfrm>
            <a:off x="11567160" y="14904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2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claude-sonnet-4-6 / claude-opus-4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81"/>
          <p:cNvSpPr/>
          <p:nvPr/>
        </p:nvSpPr>
        <p:spPr>
          <a:xfrm>
            <a:off x="10863000" y="2103120"/>
            <a:ext cx="242280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82"/>
          <p:cNvSpPr/>
          <p:nvPr/>
        </p:nvSpPr>
        <p:spPr>
          <a:xfrm>
            <a:off x="10981800" y="21214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Claude Models (via API)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3"/>
          <p:cNvSpPr/>
          <p:nvPr/>
        </p:nvSpPr>
        <p:spPr>
          <a:xfrm>
            <a:off x="10991160" y="240480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84" descr="agent.png"/>
          <p:cNvPicPr/>
          <p:nvPr/>
        </p:nvPicPr>
        <p:blipFill>
          <a:blip r:embed="rId20"/>
          <a:stretch/>
        </p:blipFill>
        <p:spPr>
          <a:xfrm>
            <a:off x="11064240" y="24778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85"/>
          <p:cNvSpPr/>
          <p:nvPr/>
        </p:nvSpPr>
        <p:spPr>
          <a:xfrm>
            <a:off x="11430000" y="24505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soc-team-lead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86"/>
          <p:cNvSpPr/>
          <p:nvPr/>
        </p:nvSpPr>
        <p:spPr>
          <a:xfrm>
            <a:off x="11430000" y="263340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Orchestrator · Delegates to specialists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87"/>
          <p:cNvSpPr/>
          <p:nvPr/>
        </p:nvSpPr>
        <p:spPr>
          <a:xfrm>
            <a:off x="10991160" y="304488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88" descr="agent.png"/>
          <p:cNvPicPr/>
          <p:nvPr/>
        </p:nvPicPr>
        <p:blipFill>
          <a:blip r:embed="rId21"/>
          <a:stretch/>
        </p:blipFill>
        <p:spPr>
          <a:xfrm>
            <a:off x="11064240" y="3117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89"/>
          <p:cNvSpPr/>
          <p:nvPr/>
        </p:nvSpPr>
        <p:spPr>
          <a:xfrm>
            <a:off x="11430000" y="309060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soc-siem-analyst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0"/>
          <p:cNvSpPr/>
          <p:nvPr/>
        </p:nvSpPr>
        <p:spPr>
          <a:xfrm>
            <a:off x="11430000" y="327348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Exabeam UEBA · Risk scores · Event correlation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91"/>
          <p:cNvSpPr/>
          <p:nvPr/>
        </p:nvSpPr>
        <p:spPr>
          <a:xfrm>
            <a:off x="10991160" y="368496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Picture 92" descr="agent.png"/>
          <p:cNvPicPr/>
          <p:nvPr/>
        </p:nvPicPr>
        <p:blipFill>
          <a:blip r:embed="rId22"/>
          <a:stretch/>
        </p:blipFill>
        <p:spPr>
          <a:xfrm>
            <a:off x="11064240" y="3758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93"/>
          <p:cNvSpPr/>
          <p:nvPr/>
        </p:nvSpPr>
        <p:spPr>
          <a:xfrm>
            <a:off x="11430000" y="373068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soc-network-analyst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94"/>
          <p:cNvSpPr/>
          <p:nvPr/>
        </p:nvSpPr>
        <p:spPr>
          <a:xfrm>
            <a:off x="11430000" y="391356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Darktrace · XDR · Network breach analysis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95"/>
          <p:cNvSpPr/>
          <p:nvPr/>
        </p:nvSpPr>
        <p:spPr>
          <a:xfrm>
            <a:off x="10991160" y="432504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Picture 96" descr="agent.png"/>
          <p:cNvPicPr/>
          <p:nvPr/>
        </p:nvPicPr>
        <p:blipFill>
          <a:blip r:embed="rId23"/>
          <a:stretch/>
        </p:blipFill>
        <p:spPr>
          <a:xfrm>
            <a:off x="11064240" y="43981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97"/>
          <p:cNvSpPr/>
          <p:nvPr/>
        </p:nvSpPr>
        <p:spPr>
          <a:xfrm>
            <a:off x="11430000" y="437076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soc-threat-intel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8"/>
          <p:cNvSpPr/>
          <p:nvPr/>
        </p:nvSpPr>
        <p:spPr>
          <a:xfrm>
            <a:off x="11430000" y="455364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VirusTotal · Recorded Future · IOC enrichment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99"/>
          <p:cNvSpPr/>
          <p:nvPr/>
        </p:nvSpPr>
        <p:spPr>
          <a:xfrm>
            <a:off x="10991160" y="496512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Picture 100" descr="agent.png"/>
          <p:cNvPicPr/>
          <p:nvPr/>
        </p:nvPicPr>
        <p:blipFill>
          <a:blip r:embed="rId24"/>
          <a:stretch/>
        </p:blipFill>
        <p:spPr>
          <a:xfrm>
            <a:off x="11064240" y="50382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101"/>
          <p:cNvSpPr/>
          <p:nvPr/>
        </p:nvSpPr>
        <p:spPr>
          <a:xfrm>
            <a:off x="11430000" y="50108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soc-mabel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02"/>
          <p:cNvSpPr/>
          <p:nvPr/>
        </p:nvSpPr>
        <p:spPr>
          <a:xfrm>
            <a:off x="11430000" y="519372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Institutional memory · Knowledge base · Playbooks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03"/>
          <p:cNvSpPr/>
          <p:nvPr/>
        </p:nvSpPr>
        <p:spPr>
          <a:xfrm>
            <a:off x="10991160" y="560520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104" descr="agent.png"/>
          <p:cNvPicPr/>
          <p:nvPr/>
        </p:nvPicPr>
        <p:blipFill>
          <a:blip r:embed="rId25"/>
          <a:stretch/>
        </p:blipFill>
        <p:spPr>
          <a:xfrm>
            <a:off x="11064240" y="56782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105"/>
          <p:cNvSpPr/>
          <p:nvPr/>
        </p:nvSpPr>
        <p:spPr>
          <a:xfrm>
            <a:off x="11430000" y="56509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soc-verdict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06"/>
          <p:cNvSpPr/>
          <p:nvPr/>
        </p:nvSpPr>
        <p:spPr>
          <a:xfrm>
            <a:off x="11430000" y="583380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Decision matrix · Classification · Severity · Action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07"/>
          <p:cNvSpPr/>
          <p:nvPr/>
        </p:nvSpPr>
        <p:spPr>
          <a:xfrm>
            <a:off x="10991160" y="6355080"/>
            <a:ext cx="21758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Picture 108" descr="claude.png"/>
          <p:cNvPicPr/>
          <p:nvPr/>
        </p:nvPicPr>
        <p:blipFill>
          <a:blip r:embed="rId26"/>
          <a:stretch/>
        </p:blipFill>
        <p:spPr>
          <a:xfrm>
            <a:off x="11475720" y="6409800"/>
            <a:ext cx="38376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109"/>
          <p:cNvSpPr/>
          <p:nvPr/>
        </p:nvSpPr>
        <p:spPr>
          <a:xfrm>
            <a:off x="11887200" y="640080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Claude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10"/>
          <p:cNvSpPr/>
          <p:nvPr/>
        </p:nvSpPr>
        <p:spPr>
          <a:xfrm>
            <a:off x="11887200" y="6583680"/>
            <a:ext cx="11426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8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Secure · Reliable · Enterprise AI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Connector 111"/>
          <p:cNvCxnSpPr/>
          <p:nvPr/>
        </p:nvCxnSpPr>
        <p:spPr>
          <a:xfrm>
            <a:off x="1645920" y="3035520"/>
            <a:ext cx="137520" cy="3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68" name="TextBox 112"/>
          <p:cNvSpPr/>
          <p:nvPr/>
        </p:nvSpPr>
        <p:spPr>
          <a:xfrm>
            <a:off x="1303200" y="285300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HTTPS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Connector 113"/>
          <p:cNvCxnSpPr/>
          <p:nvPr/>
        </p:nvCxnSpPr>
        <p:spPr>
          <a:xfrm>
            <a:off x="3383280" y="3035520"/>
            <a:ext cx="869040" cy="3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70" name="TextBox 114"/>
          <p:cNvSpPr/>
          <p:nvPr/>
        </p:nvSpPr>
        <p:spPr>
          <a:xfrm>
            <a:off x="3360600" y="28072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HTTPS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(443)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or 115"/>
          <p:cNvCxnSpPr/>
          <p:nvPr/>
        </p:nvCxnSpPr>
        <p:spPr>
          <a:xfrm>
            <a:off x="6492240" y="1938240"/>
            <a:ext cx="360" cy="7869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72" name="TextBox 116"/>
          <p:cNvSpPr/>
          <p:nvPr/>
        </p:nvSpPr>
        <p:spPr>
          <a:xfrm>
            <a:off x="6035040" y="20116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Image pull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(on deploy)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3" name="Connector 117"/>
          <p:cNvCxnSpPr/>
          <p:nvPr/>
        </p:nvCxnSpPr>
        <p:spPr>
          <a:xfrm>
            <a:off x="8668440" y="1938240"/>
            <a:ext cx="360" cy="7869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74" name="TextBox 118"/>
          <p:cNvSpPr/>
          <p:nvPr/>
        </p:nvSpPr>
        <p:spPr>
          <a:xfrm>
            <a:off x="8119800" y="198432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ID token (OIDC)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via MSAL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Connector 119"/>
          <p:cNvCxnSpPr/>
          <p:nvPr/>
        </p:nvCxnSpPr>
        <p:spPr>
          <a:xfrm flipH="1">
            <a:off x="1828800" y="4206240"/>
            <a:ext cx="2725200" cy="54900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76" name="TextBox 120"/>
          <p:cNvSpPr/>
          <p:nvPr/>
        </p:nvSpPr>
        <p:spPr>
          <a:xfrm>
            <a:off x="2551320" y="41331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OAuth2 + REST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(HTTPS)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Request / Response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Connector 121"/>
          <p:cNvCxnSpPr/>
          <p:nvPr/>
        </p:nvCxnSpPr>
        <p:spPr>
          <a:xfrm flipH="1">
            <a:off x="1828800" y="4892040"/>
            <a:ext cx="2725200" cy="13719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78" name="TextBox 122"/>
          <p:cNvSpPr/>
          <p:nvPr/>
        </p:nvSpPr>
        <p:spPr>
          <a:xfrm>
            <a:off x="2597040" y="523044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HTTPS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Request / Response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Connector 123"/>
          <p:cNvCxnSpPr/>
          <p:nvPr/>
        </p:nvCxnSpPr>
        <p:spPr>
          <a:xfrm>
            <a:off x="8942760" y="4160520"/>
            <a:ext cx="1710360" cy="360"/>
          </a:xfrm>
          <a:prstGeom prst="straightConnector1">
            <a:avLst/>
          </a:prstGeom>
          <a:ln>
            <a:solidFill>
              <a:srgbClr val="7c3aed"/>
            </a:solidFill>
            <a:round/>
          </a:ln>
        </p:spPr>
      </p:cxnSp>
      <p:sp>
        <p:nvSpPr>
          <p:cNvPr id="180" name="TextBox 124"/>
          <p:cNvSpPr/>
          <p:nvPr/>
        </p:nvSpPr>
        <p:spPr>
          <a:xfrm>
            <a:off x="9089280" y="38131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API calls · HTTPS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c3aed"/>
                </a:solidFill>
                <a:effectLst/>
                <a:uFillTx/>
                <a:latin typeface="Segoe UI"/>
              </a:rPr>
              <a:t>Messages API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125"/>
          <p:cNvCxnSpPr/>
          <p:nvPr/>
        </p:nvCxnSpPr>
        <p:spPr>
          <a:xfrm flipV="1">
            <a:off x="8942760" y="3748680"/>
            <a:ext cx="293040" cy="201240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cxnSp>
        <p:nvCxnSpPr>
          <p:cNvPr id="182" name="Connector 126"/>
          <p:cNvCxnSpPr/>
          <p:nvPr/>
        </p:nvCxnSpPr>
        <p:spPr>
          <a:xfrm>
            <a:off x="5852160" y="6382440"/>
            <a:ext cx="594720" cy="52164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83" name="TextBox 127"/>
          <p:cNvSpPr/>
          <p:nvPr/>
        </p:nvSpPr>
        <p:spPr>
          <a:xfrm>
            <a:off x="5326200" y="63230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Secrets via Private Endpoint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4" name="Connector 128"/>
          <p:cNvCxnSpPr/>
          <p:nvPr/>
        </p:nvCxnSpPr>
        <p:spPr>
          <a:xfrm>
            <a:off x="6126480" y="6985800"/>
            <a:ext cx="320400" cy="3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cxnSp>
        <p:nvCxnSpPr>
          <p:cNvPr id="185" name="Connector 129"/>
          <p:cNvCxnSpPr/>
          <p:nvPr/>
        </p:nvCxnSpPr>
        <p:spPr>
          <a:xfrm>
            <a:off x="6144480" y="6985800"/>
            <a:ext cx="302400" cy="3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86" name="TextBox 130"/>
          <p:cNvSpPr/>
          <p:nvPr/>
        </p:nvSpPr>
        <p:spPr>
          <a:xfrm>
            <a:off x="5678280" y="665676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Private connection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(HTTPS)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Connector 131"/>
          <p:cNvCxnSpPr/>
          <p:nvPr/>
        </p:nvCxnSpPr>
        <p:spPr>
          <a:xfrm>
            <a:off x="6537960" y="3986640"/>
            <a:ext cx="91800" cy="360"/>
          </a:xfrm>
          <a:prstGeom prst="straightConnector1">
            <a:avLst/>
          </a:prstGeom>
          <a:ln w="14604">
            <a:solidFill>
              <a:srgbClr val="737373"/>
            </a:solidFill>
            <a:round/>
          </a:ln>
        </p:spPr>
      </p:cxnSp>
      <p:sp>
        <p:nvSpPr>
          <p:cNvPr id="188" name="TextBox 132"/>
          <p:cNvSpPr/>
          <p:nvPr/>
        </p:nvSpPr>
        <p:spPr>
          <a:xfrm>
            <a:off x="6126480" y="365760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REST API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(localhost)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33"/>
          <p:cNvSpPr/>
          <p:nvPr/>
        </p:nvSpPr>
        <p:spPr>
          <a:xfrm>
            <a:off x="201240" y="7973640"/>
            <a:ext cx="9189360" cy="914040"/>
          </a:xfrm>
          <a:prstGeom prst="roundRect">
            <a:avLst>
              <a:gd name="adj" fmla="val 16667"/>
            </a:avLst>
          </a:prstGeom>
          <a:solidFill>
            <a:srgbClr val="eff6fc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34"/>
          <p:cNvSpPr/>
          <p:nvPr/>
        </p:nvSpPr>
        <p:spPr>
          <a:xfrm>
            <a:off x="320040" y="8046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39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Key Benefits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5"/>
          <p:cNvSpPr/>
          <p:nvPr/>
        </p:nvSpPr>
        <p:spPr>
          <a:xfrm>
            <a:off x="914400" y="806508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Secure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36"/>
          <p:cNvSpPr/>
          <p:nvPr/>
        </p:nvSpPr>
        <p:spPr>
          <a:xfrm>
            <a:off x="914400" y="8302680"/>
            <a:ext cx="1142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Azure Front Door +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Private Endpoints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37"/>
          <p:cNvSpPr/>
          <p:nvPr/>
        </p:nvSpPr>
        <p:spPr>
          <a:xfrm>
            <a:off x="2788920" y="806508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Scalable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38"/>
          <p:cNvSpPr/>
          <p:nvPr/>
        </p:nvSpPr>
        <p:spPr>
          <a:xfrm>
            <a:off x="2788920" y="8302680"/>
            <a:ext cx="1142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Containerized on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Azure App Service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39"/>
          <p:cNvSpPr/>
          <p:nvPr/>
        </p:nvSpPr>
        <p:spPr>
          <a:xfrm>
            <a:off x="4663440" y="806508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Integrated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40"/>
          <p:cNvSpPr/>
          <p:nvPr/>
        </p:nvSpPr>
        <p:spPr>
          <a:xfrm>
            <a:off x="4663440" y="8302680"/>
            <a:ext cx="1142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Exabeam, VirusTotal,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Claude via APIs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41"/>
          <p:cNvSpPr/>
          <p:nvPr/>
        </p:nvSpPr>
        <p:spPr>
          <a:xfrm>
            <a:off x="6492240" y="806508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AI-Powered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42"/>
          <p:cNvSpPr/>
          <p:nvPr/>
        </p:nvSpPr>
        <p:spPr>
          <a:xfrm>
            <a:off x="6492240" y="8302680"/>
            <a:ext cx="1142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6 Specialized Agents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for SOC Triage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43"/>
          <p:cNvSpPr/>
          <p:nvPr/>
        </p:nvSpPr>
        <p:spPr>
          <a:xfrm>
            <a:off x="8183880" y="806508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60" strike="noStrike" u="none">
                <a:solidFill>
                  <a:srgbClr val="0078d4"/>
                </a:solidFill>
                <a:effectLst/>
                <a:uFillTx/>
                <a:latin typeface="Segoe UI"/>
              </a:rPr>
              <a:t>Enterprise Ready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44"/>
          <p:cNvSpPr/>
          <p:nvPr/>
        </p:nvSpPr>
        <p:spPr>
          <a:xfrm>
            <a:off x="8183880" y="8302680"/>
            <a:ext cx="1142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SSO, RBAC, Monitoring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62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and Secure by Design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45"/>
          <p:cNvSpPr/>
          <p:nvPr/>
        </p:nvSpPr>
        <p:spPr>
          <a:xfrm>
            <a:off x="9528120" y="7973640"/>
            <a:ext cx="39315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37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46"/>
          <p:cNvSpPr/>
          <p:nvPr/>
        </p:nvSpPr>
        <p:spPr>
          <a:xfrm>
            <a:off x="9646920" y="804672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39" strike="noStrike" u="none">
                <a:solidFill>
                  <a:srgbClr val="0c2d5b"/>
                </a:solidFill>
                <a:effectLst/>
                <a:uFillTx/>
                <a:latin typeface="Segoe UI"/>
              </a:rPr>
              <a:t>Legend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47"/>
          <p:cNvSpPr/>
          <p:nvPr/>
        </p:nvSpPr>
        <p:spPr>
          <a:xfrm>
            <a:off x="9646920" y="8302680"/>
            <a:ext cx="182520" cy="10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48"/>
          <p:cNvSpPr/>
          <p:nvPr/>
        </p:nvSpPr>
        <p:spPr>
          <a:xfrm>
            <a:off x="9893880" y="826632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Azure service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49"/>
          <p:cNvSpPr/>
          <p:nvPr/>
        </p:nvSpPr>
        <p:spPr>
          <a:xfrm>
            <a:off x="11521440" y="8302680"/>
            <a:ext cx="182520" cy="10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50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50"/>
          <p:cNvSpPr/>
          <p:nvPr/>
        </p:nvSpPr>
        <p:spPr>
          <a:xfrm>
            <a:off x="11768400" y="826632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Identity / Security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51"/>
          <p:cNvSpPr/>
          <p:nvPr/>
        </p:nvSpPr>
        <p:spPr>
          <a:xfrm>
            <a:off x="9646920" y="8558640"/>
            <a:ext cx="182520" cy="10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52"/>
          <p:cNvSpPr/>
          <p:nvPr/>
        </p:nvSpPr>
        <p:spPr>
          <a:xfrm>
            <a:off x="9893880" y="852228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Anthropic / Claude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53"/>
          <p:cNvSpPr/>
          <p:nvPr/>
        </p:nvSpPr>
        <p:spPr>
          <a:xfrm>
            <a:off x="11521440" y="8558640"/>
            <a:ext cx="182520" cy="10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37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54"/>
          <p:cNvSpPr/>
          <p:nvPr/>
        </p:nvSpPr>
        <p:spPr>
          <a:xfrm>
            <a:off x="11768400" y="852228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00" strike="noStrike" u="none">
                <a:solidFill>
                  <a:srgbClr val="142337"/>
                </a:solidFill>
                <a:effectLst/>
                <a:uFillTx/>
                <a:latin typeface="Segoe UI"/>
              </a:rPr>
              <a:t>External service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55"/>
          <p:cNvSpPr/>
          <p:nvPr/>
        </p:nvSpPr>
        <p:spPr>
          <a:xfrm>
            <a:off x="11887200" y="830268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50" strike="noStrike" u="none">
                <a:solidFill>
                  <a:srgbClr val="737373"/>
                </a:solidFill>
                <a:effectLst/>
                <a:uFillTx/>
                <a:latin typeface="Segoe UI"/>
              </a:rPr>
              <a:t>Network boundary  ·  Container boundary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